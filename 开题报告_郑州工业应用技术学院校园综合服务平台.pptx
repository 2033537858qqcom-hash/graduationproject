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Shape 1"/>
          <p:cNvSpPr/>
          <p:nvPr/>
        </p:nvSpPr>
        <p:spPr>
          <a:xfrm>
            <a:off x="914400" y="73152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1E3A8A"/>
          </a:solidFill>
        </p:spPr>
      </p:sp>
      <p:sp>
        <p:nvSpPr>
          <p:cNvPr id="4" name="Text 2"/>
          <p:cNvSpPr/>
          <p:nvPr/>
        </p:nvSpPr>
        <p:spPr>
          <a:xfrm>
            <a:off x="1051560" y="80467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毕业设计（论文）开题报告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校园综合服务平台的设计与实现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and Implementation of Campus Comprehensive Service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73152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880360"/>
            <a:ext cx="7315200" cy="1691640"/>
          </a:xfrm>
          <a:prstGeom prst="roundRect">
            <a:avLst>
              <a:gd name="adj" fmla="val 5405"/>
            </a:avLst>
          </a:prstGeom>
          <a:solidFill>
            <a:srgbClr val="172554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1188720" y="3063240"/>
          <a:ext cx="6766560" cy="128016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学生姓名：李</a:t>
                      </a:r>
                      <a:r>
                        <a:rPr lang="zh-CN" alt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嘉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豪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专业年级：计算机科学与技术</a:t>
                      </a:r>
                      <a:r>
                        <a:rPr lang="zh-CN" alt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</a:t>
                      </a:r>
                      <a:r>
                        <a:rPr lang="en-US" altLang="zh-CN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BK</a:t>
                      </a:r>
                      <a:r>
                        <a:rPr lang="zh-CN" alt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）</a:t>
                      </a:r>
                      <a:r>
                        <a:rPr lang="en-US" altLang="zh-CN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05</a:t>
                      </a:r>
                      <a:r>
                        <a:rPr lang="zh-CN" alt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班</a:t>
                      </a:r>
                      <a:endParaRPr lang="zh-CN" altLang="en-US" sz="13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        号：23030130412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指导教师：</a:t>
                      </a:r>
                      <a:r>
                        <a:rPr lang="zh-CN" alt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孙</a:t>
                      </a:r>
                      <a:r>
                        <a:rPr lang="zh-CN" alt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敬</a:t>
                      </a:r>
                      <a:endParaRPr lang="zh-CN" altLang="en-US" sz="13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所在学院：信息工程学院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答辩日期：2026 年 10 月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汇报目录 / Agenda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2893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9" name="Text 7"/>
          <p:cNvSpPr/>
          <p:nvPr/>
        </p:nvSpPr>
        <p:spPr>
          <a:xfrm>
            <a:off x="841248" y="134416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25272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选题背景与研究意义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痛点剖析 · 政策趋势 · 理论与实际应用价值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157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14" name="Text 12"/>
          <p:cNvSpPr/>
          <p:nvPr/>
        </p:nvSpPr>
        <p:spPr>
          <a:xfrm>
            <a:off x="841248" y="221284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12140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国内外设计现状综述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43230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国内外智慧校园体系 · 现有不足与课题切入点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19" name="Text 17"/>
          <p:cNvSpPr/>
          <p:nvPr/>
        </p:nvSpPr>
        <p:spPr>
          <a:xfrm>
            <a:off x="841248" y="308152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299008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毕业设计目标与内容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30098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核心解决问题 · 总体目标 · 系统四大业务版块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74904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8953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24" name="Text 22"/>
          <p:cNvSpPr/>
          <p:nvPr/>
        </p:nvSpPr>
        <p:spPr>
          <a:xfrm>
            <a:off x="841248" y="395020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85876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系统架构与技术选型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16966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四层技术架构 · 前后端技术栈对比 · 实施流程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1430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12893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29" name="Text 27"/>
          <p:cNvSpPr/>
          <p:nvPr/>
        </p:nvSpPr>
        <p:spPr>
          <a:xfrm>
            <a:off x="4956048" y="134416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125272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系统核心创新点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156362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全景步骤条 · 空间孪生 · 云边存储自动降级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0116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2157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34" name="Text 32"/>
          <p:cNvSpPr/>
          <p:nvPr/>
        </p:nvSpPr>
        <p:spPr>
          <a:xfrm>
            <a:off x="4956048" y="221284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212140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研究计划与进度安排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243230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六阶段里程碑甘特表 · 过程性推进时间节点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88036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B5C"/>
          </a:solidFill>
        </p:spPr>
      </p:sp>
      <p:sp>
        <p:nvSpPr>
          <p:cNvPr id="39" name="Text 37"/>
          <p:cNvSpPr/>
          <p:nvPr/>
        </p:nvSpPr>
        <p:spPr>
          <a:xfrm>
            <a:off x="4956048" y="308152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32120" y="299008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预期成果与参考文献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330098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软件原型交付 · 近3年15篇GB/T高水平文献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选题背景与现存问题剖析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73152" cy="274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1005840" y="136245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 1：信息孤岛林立，数据互不相通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3474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教务、学工、宿管、后勤等业务系统大多独立外包采购，账号体系割裂，师生跨部门办事需重复登录、来回跑腿。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371600"/>
            <a:ext cx="73152" cy="274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5074920" y="136245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 2：设施报修跟踪断层，协同体验混乱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474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传统工单缺乏全生命周期跟踪，报修人无法获知接单与维修节点；申报事实与师傅维修凭证杂糅在一起，权责界限不清。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063240"/>
            <a:ext cx="73152" cy="274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1005840" y="305409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 3：校园空间认知扁平，缺乏数字化孪生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474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绝大多数高校仍停留在静态平面手绘地图，无法满足新生迎新、场馆借用、设施定点巡检的三维沉浸式空间导览需求。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63240"/>
            <a:ext cx="73152" cy="274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5074920" y="305409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 4：办事证明与审批线下耗时，易造假难查验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3474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学生请假、在读证明开具依赖辅导员面对面手写签字与实体盖章，流程拖沓繁复且缺乏防伪验真手段。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课题研究意义与应用价值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886200" cy="3429000"/>
          </a:xfrm>
          <a:prstGeom prst="roundRect">
            <a:avLst>
              <a:gd name="adj" fmla="val 2667"/>
            </a:avLst>
          </a:prstGeom>
          <a:solidFill>
            <a:srgbClr val="EBF3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📚 理论与技术探索意义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4290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【状态机工作流建模】研究复杂工单在报修人、调度中心、维修师傅三者间有限状态机（FSM）迁移算法，保证状态流转无死锁。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【轻量化三维空间孪生】探索纯前端 WebGL / Three.js 建筑白模光影与 GIS 高德矢量图层精准对齐，摆脱大体积点云依赖。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【安全审计与权限模型】研究细粒度 RBAC 权限体系与敏感数据动态脱敏日志设计，建立安全可控的智慧校园治理机制。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3886200" cy="342900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💼 实际应用与管理赋能价值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290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【师生办事提质增效】提供一站式事务入口，实现“掌上申报、节点全景监控、维修完工验收、电子凭证带章下载”。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【后勤资产精准运维】通过工单现场与完工照片严谨对照，杜绝虚假结单，提高后勤资源响应速度与服务满意度。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【降本增效易于落地】前后端采用主流轻量技术栈，低服务器开销，高扩展性，非常切合应用型普通高校数字化转型实情。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国内外研究现状（文献综述）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🌐 国外研究进展 (International)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42900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顶尖高校生态建设：MIT 与 Stanford 等国外高校重点推进“数字孪生校园（Digital Twin Campus）”建设，利用物联网（IoT）与三维建模进行能耗监测与人流管理。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聚焦敏捷中台与开放标准：普遍采用微服务与微前端架构，推行统一身份认证与第三方服务插件机制。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局限性：国外高校组织架构扁平，缺乏班级辅导员审批、多层宿舍调配、后勤派工分诊等复杂流程，难以直接套用于国内高校。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🇨🇳 国内研究进展 (Domestic)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2900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“一网通办”国家政策导向：依托教育信息化 2.0 行动计划，各大高校加速推进智慧校园与“最多跑一次”微服务。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头部名校重构系统标杆：清华、浙大等高水平大学上线自研智能办事门户，集成多端协同。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应用型本科高校现状：多数依然依赖多厂商分散系统拼凑，面临维护成本高昂、协同体验差、缺乏三维沉浸感、移动端易用性弱等痛点。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现有研究的不足与本课题切入点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95528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4416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 1：重数据归档，轻流转全景感知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344168"/>
            <a:ext cx="4663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工单办理多为生硬状态字（如“处理中”），缺乏全景进度条与当前责任人透传，报修人如同面对“黑盒”。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795528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0428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 2：权责信息混杂，完工凭证难核实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304288"/>
            <a:ext cx="4663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用户报修信息与师傅反馈文字堆叠在同一页面，现场坏损图与完工修复图缺乏分层隔离，极易引起推诿扯皮。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95528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6440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 3：三维孪生门槛过高，轻量化方案少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264408"/>
            <a:ext cx="4663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 BIM 或大体量点云对客户端显卡与网络要求苛刻，普通手机端无法秒级呈现校园实景漫游。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7955280" cy="594360"/>
          </a:xfrm>
          <a:prstGeom prst="roundRect">
            <a:avLst>
              <a:gd name="adj" fmla="val 12308"/>
            </a:avLst>
          </a:prstGeom>
          <a:solidFill>
            <a:srgbClr val="0F2B5C"/>
          </a:solidFill>
        </p:spPr>
      </p:sp>
      <p:sp>
        <p:nvSpPr>
          <p:cNvPr id="17" name="Text 15"/>
          <p:cNvSpPr/>
          <p:nvPr/>
        </p:nvSpPr>
        <p:spPr>
          <a:xfrm>
            <a:off x="914400" y="4343400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本课题切入点：以轻量化数字孪生、4阶段全景状态机与双主体工单隔离为核心，重塑校园智慧综合服务。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毕业设计总体目标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EBF3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首屏 &lt; 1.5s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38988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轻量化数字孪生导览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3520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建成东校区 3D 白模光影与西校区矢量网格双模式空间漫游，支持真实 POI 拓扑导航。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37160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EBF3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1732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阶段闭环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38988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全景透明设施报修体系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828800"/>
            <a:ext cx="3520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构建“申报、分派、维修、验收”4阶段进度条，实现报修人与师傅双主体卡片彻底隔离。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06324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EBF3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08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大角色协同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08152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一网协同多角色工作台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3520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RBAC 动态下发学生、教师、辅导员、教务、后勤、维修、宿管自适应工作界面。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06324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EBF3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10896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 格式防伪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308152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防伪可信电子证明系统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520440"/>
            <a:ext cx="3520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 Apache PDFBox 亚像素引擎，动态生成带专属防伪码与电子印章的在读证明。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系统总体架构框架设计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4416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表现层 (Presentation)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344168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(Composition API)  |  TypeScript 5  |  Three.js 3D场景  |  高德地图JS SDK 2.0  |  响应式双端适配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1284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网关与安全控制层 (Security)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212848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Security 6  |  CSRF 防御令牌  |  RBAC 权限鉴定体系  |  敏感操作控制台审计过滤器 (Audit Filter)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8152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核心业务逻辑层 (Services)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081528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三维孪生漫游服务  |  全景报修状态机引擎  |  多角色动态工作台  |  宿舍调配管理  |  PDF 凭证生成引擎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5020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数据与存储支撑层 (Data &amp; Storage)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950208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关系型数据库  |  Flyway 版本化脚本迁移 (V1-V28)  |  腾讯云 COS 直传  |  Base64 Data-URI 本地降级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核心模块：双校区数字孪生与空间导航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34290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🏢 东校区：Three.js 交互式 3D 白模漫游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4290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几何轻量化构建：还原毓秀楼、静逸楼、锦绣餐厅等核心建筑外轮廓，结合环境光与直射光实现立体阴影。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交互式空间感知：支持鼠标三维环绕旋转、俯视倾斜平移；点击建筑物触发高亮与建筑详情浮层。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官方 POI 基准对齐：纠正历史版本重名建筑与道路拓扑粘连，确保三维空间几何与现实完全一致。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886200" cy="34290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🗺️ 西校区：高德地图 2.5D 矢量覆盖物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290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真实地理坐标系：基于真实经纬度坐标（郑工西校区实景），通过 AMap JS API 2.0 加载多边形地块与楼栋。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规避测绘偏差：摒弃未核实点位，严格按官方空间名录完成明德楼、宿舍区、运动场的矢量测绘呈现。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双校区一键漫游：提供东/西双校区平滑视角飞行动画切换，满足不同校区师生跨校区空间导航。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核心模块：全流程闭环校园设施报修系统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F2B5C"/>
          </a:solidFill>
        </p:spPr>
      </p:sp>
      <p:sp>
        <p:nvSpPr>
          <p:cNvPr id="8" name="Text 6"/>
          <p:cNvSpPr/>
          <p:nvPr/>
        </p:nvSpPr>
        <p:spPr>
          <a:xfrm>
            <a:off x="731520" y="1325880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阶段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提交报修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810512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地点类别·现场拍照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23444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F2B5C"/>
          </a:solidFill>
        </p:spPr>
      </p:sp>
      <p:sp>
        <p:nvSpPr>
          <p:cNvPr id="12" name="Text 10"/>
          <p:cNvSpPr/>
          <p:nvPr/>
        </p:nvSpPr>
        <p:spPr>
          <a:xfrm>
            <a:off x="2788920" y="1325880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阶段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536192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后勤分诊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1810512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审核范围·指派师傅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F2B5C"/>
          </a:solidFill>
        </p:spPr>
      </p:sp>
      <p:sp>
        <p:nvSpPr>
          <p:cNvPr id="16" name="Text 14"/>
          <p:cNvSpPr/>
          <p:nvPr/>
        </p:nvSpPr>
        <p:spPr>
          <a:xfrm>
            <a:off x="4846320" y="1325880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阶段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536192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上门维修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810512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接单排查·完工留证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23444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0F2B5C"/>
          </a:solidFill>
        </p:spPr>
      </p:sp>
      <p:sp>
        <p:nvSpPr>
          <p:cNvPr id="20" name="Text 18"/>
          <p:cNvSpPr/>
          <p:nvPr/>
        </p:nvSpPr>
        <p:spPr>
          <a:xfrm>
            <a:off x="6903720" y="1325880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阶段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1536192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验收办结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810512"/>
            <a:ext cx="1874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本人核验·星级评价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228600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450592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报修申报卡（报修人提交）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834640"/>
            <a:ext cx="34290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结构化事实：申报人、联系电话、方便时间、校区地点、门牌号。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现场故障图库：支持多图上传、压缩校验、大图灯箱预览，独立展示现场损毁真实照片。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28600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450592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🔧 维修反馈卡（维修师傅与后勤）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2834640"/>
            <a:ext cx="34290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派工流转轨迹：记录派单人、指派师傅、派单说明与改派时间。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维修完工图库：师傅接单排查、维修进度说明与修复后完工照片，与申报图形成清晰对比。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核心模块：多角色协同工作台与学生事务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73152" cy="256032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9" name="Text 7"/>
          <p:cNvSpPr/>
          <p:nvPr/>
        </p:nvSpPr>
        <p:spPr>
          <a:xfrm>
            <a:off x="1005840" y="136245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学生门户 (Student)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35204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课表与成绩查询、在线请假申请、带章证明生成、自修与场地预约、宿舍调换。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371600"/>
            <a:ext cx="73152" cy="256032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13" name="Text 11"/>
          <p:cNvSpPr/>
          <p:nvPr/>
        </p:nvSpPr>
        <p:spPr>
          <a:xfrm>
            <a:off x="5074920" y="136245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辅导员工作台 (Counselor)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5204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班级请假多级审批、在校学生调宿初审、危机预警与学生综合事务统筹。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063240"/>
            <a:ext cx="73152" cy="256032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17" name="Text 15"/>
          <p:cNvSpPr/>
          <p:nvPr/>
        </p:nvSpPr>
        <p:spPr>
          <a:xfrm>
            <a:off x="1005840" y="305409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教务管理台 (Academic)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5204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学期校历编排、全校教学班资源调度、教室借用审核与上课考勤监管。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63240"/>
            <a:ext cx="73152" cy="256032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1" name="Text 19"/>
          <p:cNvSpPr/>
          <p:nvPr/>
        </p:nvSpPr>
        <p:spPr>
          <a:xfrm>
            <a:off x="5074920" y="305409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后勤与维修台 (Logistics)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35204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设施故障分诊、派单调度、维修进度跟踪、维修人员负责网格动态划定。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核心模块：宿舍资源拓扑与防伪电子证明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34290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🛏️ 宿舍拓扑与在线调宿流转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4290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空间四级拓扑：校区 $\rightarrow$ 宿舍楼 $\rightarrow$ 房间 $\rightarrow$ 床位状态机（空闲/已住/锁定/维修）。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调宿全链审批：学生发起申请 $\rightarrow$ 辅导员调宿初审 $\rightarrow$ 宿管服务台终审分配空床 $\rightarrow$ 入住归档生效。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材料防篡改：支持入住协议、证明材料线上流转，杜绝私下调宿与床位空置死锁。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886200" cy="34290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📜 Apache PDFBox 电子凭证带章生成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290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亚像素高保真排版：使用 Apache PDFBox 动态渲染排版，严格遵循郑工官方在读证明格式与公文制式。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矢量公章印制：在 PDF 中动态合成带防伪波纹的学校公章，生成唯一定位溯源码与数字验真编号。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跨端直接导出：后端直接流式响应为二进制 PDF 文件，支持浏览器免插件预览与一键打印。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关键技术选型与工具链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31520" y="1234440"/>
          <a:ext cx="7955280" cy="338328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4297680"/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技术维度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拟选技术栈 / 框架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选型理由与技术优势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前端开发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Vue 3 + TypeScript + Vite 5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Composition API 提升复杂状态复用率，TS 严谨类型推导，Vite 秒级热重载。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三维与地图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Three.js + 高德地图 SDK 2.0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纯前端轻量白模渲染无显卡门槛；高德矢量覆盖物保证真实地理坐标吻合。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后端服务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 Boot 3 + Java 21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开箱即用高可用微服务底座，虚拟线程支持高并发，标准 RESTful 接口设计。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安全与权限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 Security 6 + RBAC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细粒度基于角色权限拦截，CSRF 安全令牌防御，控制台操作审计过滤器。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数据与存储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MySQL 8 + Flyway + 腾讯云 COS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Flyway 实现 28 个数据库增量迁移可回溯；COS 提供对象存储与 Base64 降级。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实施技术路线与研发流程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4592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F2B5C"/>
          </a:solidFill>
        </p:spPr>
      </p:sp>
      <p:sp>
        <p:nvSpPr>
          <p:cNvPr id="9" name="Text 7"/>
          <p:cNvSpPr/>
          <p:nvPr/>
        </p:nvSpPr>
        <p:spPr>
          <a:xfrm>
            <a:off x="868680" y="17373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需求分析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用例建模 · 权限矩阵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834640"/>
            <a:ext cx="1289304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实地调研师生办事流程，制定系统功能性与非功能性指标。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146304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64592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F2B5C"/>
          </a:solidFill>
        </p:spPr>
      </p:sp>
      <p:sp>
        <p:nvSpPr>
          <p:cNvPr id="14" name="Text 12"/>
          <p:cNvSpPr/>
          <p:nvPr/>
        </p:nvSpPr>
        <p:spPr>
          <a:xfrm>
            <a:off x="2514600" y="17373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架构与建模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2402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RESTful · Flyway V1-V28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2834640"/>
            <a:ext cx="1289304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定义前后端接口契约，构建关系型数据库 ER 模型与迁移脚本。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0" y="146304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64592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F2B5C"/>
          </a:solidFill>
        </p:spPr>
      </p:sp>
      <p:sp>
        <p:nvSpPr>
          <p:cNvPr id="19" name="Text 17"/>
          <p:cNvSpPr/>
          <p:nvPr/>
        </p:nvSpPr>
        <p:spPr>
          <a:xfrm>
            <a:off x="4160520" y="17373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核心开发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2402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 + Vue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33088" y="2834640"/>
            <a:ext cx="1289304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 3D 漫游、4阶段报修工作流、工作台以及 PDF 印章生成。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146304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64592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F2B5C"/>
          </a:solidFill>
        </p:spPr>
      </p:sp>
      <p:sp>
        <p:nvSpPr>
          <p:cNvPr id="24" name="Text 22"/>
          <p:cNvSpPr/>
          <p:nvPr/>
        </p:nvSpPr>
        <p:spPr>
          <a:xfrm>
            <a:off x="5806440" y="17373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质量保障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2402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131 项单元/集成测试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79008" y="2834640"/>
            <a:ext cx="1289304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开展单元测试、边界异常注入、安全审计与代码脱敏扫描。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146304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164592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F2B5C"/>
          </a:solidFill>
        </p:spPr>
      </p:sp>
      <p:sp>
        <p:nvSpPr>
          <p:cNvPr id="29" name="Text 27"/>
          <p:cNvSpPr/>
          <p:nvPr/>
        </p:nvSpPr>
        <p:spPr>
          <a:xfrm>
            <a:off x="7452360" y="17373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部署验收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22402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生产打包 · 毕业答辩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24928" y="2834640"/>
            <a:ext cx="1289304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容器化部署演示、毕业论文撰写与系统终期答辩。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系统特色与创新点 (一)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955280" cy="3429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7406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🌟 创新点一：全景阶段进度条与双责任主体隔离工作流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74066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动态状态机全生命周期透传：将工单生命周期抽象为“提交报修 $\rightarrow$ 后勤派工 $\rightarrow$ 上门维修 $\rightarrow$ 验收办结”四大里程碑，顶部配备全景进度条与实时处理人标识，彻底杜绝黑盒盲区。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双主体卡片式深度隔离：彻底解决传统系统“文字堆砌、图文混杂”弊端，将申报人信息与师傅反馈分为独立卡片。现场故障图只归属于报修卡，维修完工图只归属于师傅反馈卡，前后对比清晰。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异常逆向流转闭环：对驳回、改派、取消申请、验收不通过等异常分支设计完整状态机保护，实现可溯源的责任闭环。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系统特色与创新点 (二)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955280" cy="3429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254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7406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🌟 创新点二：混合动力校园空间孪生与官方拓扑校准方案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74066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告别重资产倾斜摄影依赖：针对普通高校算力与预算有限的特点，首创纯前端 Three.js 矢量白模与高德 GIS 结合的混合孪生方案，模型仅数百KB，首屏秒开。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空间拓扑合规性校验：内置多维校验规则，解决以往手绘地图存在的建筑重名、道路粘连、虚构建筑坐标等硬伤，数据真实可靠。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沉浸式场景交互体验：支持双校区平滑视角跳跃、建筑高亮穿透聚焦、位置指引元数据反查，开创校园轻量孪生新范式。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系统特色与创新点 (三)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955280" cy="3429000"/>
          </a:xfrm>
          <a:prstGeom prst="roundRect">
            <a:avLst>
              <a:gd name="adj" fmla="val 3200"/>
            </a:avLst>
          </a:prstGeom>
          <a:solidFill>
            <a:srgbClr val="FEF3C7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7406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835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🌟 创新点三：云边一体存储降级与带章安全电子证明制据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74066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腾讯云 COS 直传 + Base64 自动容灾降级：文件上传优先走公有云对象存储服务；在未配置密钥或网络异常时，系统自动无感降级至 Base64 Data URI 本地持久化，确保服务 100% 可用。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动态电子印章矢量制证：利用 Apache PDFBox 亚像素级渲染在读证明，动态叠加学校官方防伪公章与专属验真防伪码，实现学生线上即刻领证。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敏感操作控制台安全审计：实现基于 Filter 的日志全量脱敏拦截，既满足 GitHub 凭据防泄漏规范，又提供完备的系统审计溯源。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课题研究计划与进度安排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731520" y="1234440"/>
          <a:ext cx="7955280" cy="338328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1554480"/>
                <a:gridCol w="3474720"/>
                <a:gridCol w="731520"/>
              </a:tblGrid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序号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实施阶段与里程碑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起止时间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主要任务与预期交付内容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选题与开题调研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2026.09 - 2026.10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完成文献综述、可行性分析、功能需求规格说明书与开题报告 PPT。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架构设计与建模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2026.10 - 2026.11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数据库表结构设计（Flyway V1~V28）、API 接口契约规范与前端原型。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核心模块编码迭代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2026.11 - 2026.12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实现 3D 漫游、4阶段报修工作流、多角色工作台及电子印章生成。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已完成主体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系统集成与测试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2027.01 - 2027.02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全链路集成测试、131 项单元测试完善、边界安全测试与性能调优。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计划推进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论文撰写与答辩准备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2027.03 - 2027.05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撰写毕业设计终期论文、代码查重、录制功能演示视频、准备毕业答辩。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计划推进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课题预期成果与交付物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9903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💻 软件系统实体产物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可独立编译运行的“郑工校园综合服务平台”全套源码，包含 Vue 3 前端工程与 Spring Boot 3 后端工程。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9903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📄 规范学术研究论文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撰写格式规范、逻辑严谨的毕业设计论文一篇（不少于 1.5 万字），包含开题报告、中期报告与终稿。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906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🗄️ 数据库与测试用例集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47472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 套 Flyway 增量数据迁移版本脚本、131 项覆盖前后端业务边界的自动化集成测试用例。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0906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🎥 系统演示与说明文档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全功能操作演示视频、系统部署与配置说明书、对外接口 RESTful 文档。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B5C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" name="Text 2"/>
          <p:cNvSpPr/>
          <p:nvPr/>
        </p:nvSpPr>
        <p:spPr>
          <a:xfrm>
            <a:off x="731520" y="1371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毕业设计（论文）开题报告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主要参考文献（近三年高质量文献）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5486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郑州工业应用技术学院 · 信息工程学院 · 计算机科学与技术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955280" cy="34290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74980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[1] 中华人民共和国教育部. 教育信息化“十四五”规划与智慧校园总体框架[S]. 2023.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[2] 王宏伟, 李明. 基于微服务与数字孪生的高校综合服务平台设计与实现[J]. 计算机工程与应用, 2024, 60(12): 245-253.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[3] 张晓辉, 陈晨. 状态机驱动的高校后勤智能工单流转系统研究[J]. 软件导刊, 2024, 23(08): 112-117.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[4] 刘洋. 基于 Vue3 与 WebGL 的轻量级高校三维全景导览系统设计[J]. 现代电子技术, 2024, 47(15): 88-93.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[5] 赵宇, 孙铭. 基于 Spring Boot 3 与 RBAC 模型的高校多角色权限系统重构[J]. 计算机系统应用, 2024, 33(04): 102-108.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[6] 周杰, 黄伟. 面向高并发场景的混合云存储降级容灾机制设计[J]. 信息技术与信息化, 2025, (02): 65-70.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[7] 郑州工业应用技术学院. 郑州工业应用技术学院校园总体规划与设施名录[R]. 2023.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[8] AL-SHAMMARI H, GUPTA P. Digital Twin-driven Smart Campus: Architectures and Practical Implementation[J]. IEEE Access, 2024, 12: 34512-34524.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[9] KUMAR S, MARTINEZ R. Reactive Microservices Architecture for Modern Enterprise Campus Portals[J]. Future Generation Computer Systems, 2024, 151: 432-445.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[10] ZHANG Y, SMITH T. Lightweight 3D Spatial Navigation with WebGL: Performance Optimization for Mobile Devices[J]. Computers &amp; Graphics, 2023, 114: 78-89.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汇报完毕 · 敬请批评指正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 for your time and guidance!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971800"/>
            <a:ext cx="6858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6858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课题名称：郑州工业应用技术学院校园综合服务平台的设计与实现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汇报人：李佳豪 · 计算机科学与技术专业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7641</Words>
  <Application>WPS 演示</Application>
  <PresentationFormat>On-screen Show (16:9)</PresentationFormat>
  <Paragraphs>544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郑州工业应用技术学院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郑州工业应用技术学院校园综合服务平台设计与实现 - 开题报告</dc:title>
  <dc:creator>李佳豪</dc:creator>
  <dc:subject>PptxGenJS Presentation</dc:subject>
  <cp:lastModifiedBy>WPS_1686729287</cp:lastModifiedBy>
  <cp:revision>2</cp:revision>
  <dcterms:created xsi:type="dcterms:W3CDTF">2026-10-19T15:43:00Z</dcterms:created>
  <dcterms:modified xsi:type="dcterms:W3CDTF">2026-10-19T15:46:23Z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DC224CB32345468698450EDC1D07EC2D_12</vt:lpwstr>
  </property>
  <property fmtid="{D5CDD505-2E9C-101B-9397-08002B2CF9AE}" pid="3" name="KSOProductBuildVer">
    <vt:lpwstr>2052-12.1.0.29161</vt:lpwstr>
  </property>
</Properties>
</file>